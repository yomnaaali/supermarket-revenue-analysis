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lita One" charset="1" panose="02000000000000000000"/>
      <p:regular r:id="rId16"/>
    </p:embeddedFont>
    <p:embeddedFont>
      <p:font typeface="Raleway" charset="1" panose="00000000000000000000"/>
      <p:regular r:id="rId17"/>
    </p:embeddedFont>
    <p:embeddedFont>
      <p:font typeface="Raleway Bold" charset="1" panose="00000000000000000000"/>
      <p:regular r:id="rId18"/>
    </p:embeddedFont>
    <p:embeddedFont>
      <p:font typeface="XM Vahid" charset="1" panose="02000503090000020004"/>
      <p:regular r:id="rId19"/>
    </p:embeddedFont>
    <p:embeddedFont>
      <p:font typeface="Quicksand" charset="1" panose="00000000000000000000"/>
      <p:regular r:id="rId20"/>
    </p:embeddedFont>
    <p:embeddedFont>
      <p:font typeface="Quicksand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403" y="3187606"/>
            <a:ext cx="7315409" cy="369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5"/>
              </a:lnSpc>
            </a:pPr>
            <a:r>
              <a:rPr lang="en-US" sz="10834" spc="-53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Superm</a:t>
            </a:r>
            <a:r>
              <a:rPr lang="en-US" sz="10834" spc="-53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arket Sales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1091" y="7727412"/>
            <a:ext cx="5080032" cy="27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279" spc="3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presented by  /  Magda Haytham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1091" y="8383245"/>
            <a:ext cx="4532847" cy="27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279" spc="3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 / 5 /2025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718033"/>
            <a:ext cx="228600" cy="2286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AB7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8373867"/>
            <a:ext cx="228600" cy="2286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02698" y="1818182"/>
            <a:ext cx="6844909" cy="7440118"/>
          </a:xfrm>
          <a:custGeom>
            <a:avLst/>
            <a:gdLst/>
            <a:ahLst/>
            <a:cxnLst/>
            <a:rect r="r" b="b" t="t" l="l"/>
            <a:pathLst>
              <a:path h="7440118" w="6844909">
                <a:moveTo>
                  <a:pt x="0" y="0"/>
                </a:moveTo>
                <a:lnTo>
                  <a:pt x="6844908" y="0"/>
                </a:lnTo>
                <a:lnTo>
                  <a:pt x="6844908" y="7440118"/>
                </a:lnTo>
                <a:lnTo>
                  <a:pt x="0" y="7440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28809" y="2203086"/>
            <a:ext cx="1302289" cy="1302289"/>
          </a:xfrm>
          <a:custGeom>
            <a:avLst/>
            <a:gdLst/>
            <a:ahLst/>
            <a:cxnLst/>
            <a:rect r="r" b="b" t="t" l="l"/>
            <a:pathLst>
              <a:path h="1302289" w="1302289">
                <a:moveTo>
                  <a:pt x="0" y="0"/>
                </a:moveTo>
                <a:lnTo>
                  <a:pt x="1302289" y="0"/>
                </a:lnTo>
                <a:lnTo>
                  <a:pt x="1302289" y="1302289"/>
                </a:lnTo>
                <a:lnTo>
                  <a:pt x="0" y="130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759438" y="9565144"/>
            <a:ext cx="13406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62732" y="598805"/>
            <a:ext cx="622698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Problem Statement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62732" y="1235908"/>
            <a:ext cx="5585979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consistent decline in revenue has been observed across three supermarket branches. Identifying the root causes is critical to reversing this trend and improving business performance.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362732" y="3669726"/>
            <a:ext cx="49575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2732" y="4344096"/>
            <a:ext cx="5585979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Conduct a data-driven analysis of sales records across all branches, focusing on product categories, customer types, payment methods, time-based trends, and customer satisfaction. Insights will guide actionable improvements.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62732" y="6978059"/>
            <a:ext cx="456354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Unique Value Proposition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62732" y="7612424"/>
            <a:ext cx="5585979" cy="28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Unlike generic approaches, this project provides branch-specific insights, using advanced analytics and visualizations to uncover patterns in customer behavior, peak shopping hours, and product performance. This enables targeted strategies tailored to each location.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42925" y="1028700"/>
            <a:ext cx="5737531" cy="8217818"/>
          </a:xfrm>
          <a:custGeom>
            <a:avLst/>
            <a:gdLst/>
            <a:ahLst/>
            <a:cxnLst/>
            <a:rect r="r" b="b" t="t" l="l"/>
            <a:pathLst>
              <a:path h="8217818" w="5737531">
                <a:moveTo>
                  <a:pt x="0" y="0"/>
                </a:moveTo>
                <a:lnTo>
                  <a:pt x="5737531" y="0"/>
                </a:lnTo>
                <a:lnTo>
                  <a:pt x="5737531" y="8217818"/>
                </a:lnTo>
                <a:lnTo>
                  <a:pt x="0" y="8217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749318" y="9565144"/>
            <a:ext cx="1733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53718" y="1028700"/>
            <a:ext cx="8283566" cy="4473126"/>
          </a:xfrm>
          <a:custGeom>
            <a:avLst/>
            <a:gdLst/>
            <a:ahLst/>
            <a:cxnLst/>
            <a:rect r="r" b="b" t="t" l="l"/>
            <a:pathLst>
              <a:path h="4473126" w="8283566">
                <a:moveTo>
                  <a:pt x="0" y="0"/>
                </a:moveTo>
                <a:lnTo>
                  <a:pt x="8283567" y="0"/>
                </a:lnTo>
                <a:lnTo>
                  <a:pt x="8283567" y="4473126"/>
                </a:lnTo>
                <a:lnTo>
                  <a:pt x="0" y="4473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41279" y="5711885"/>
            <a:ext cx="8220202" cy="4253954"/>
          </a:xfrm>
          <a:custGeom>
            <a:avLst/>
            <a:gdLst/>
            <a:ahLst/>
            <a:cxnLst/>
            <a:rect r="r" b="b" t="t" l="l"/>
            <a:pathLst>
              <a:path h="4253954" w="8220202">
                <a:moveTo>
                  <a:pt x="0" y="0"/>
                </a:moveTo>
                <a:lnTo>
                  <a:pt x="8220201" y="0"/>
                </a:lnTo>
                <a:lnTo>
                  <a:pt x="8220201" y="4253955"/>
                </a:lnTo>
                <a:lnTo>
                  <a:pt x="0" y="4253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39257" y="9565144"/>
            <a:ext cx="17442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09824" y="7694278"/>
            <a:ext cx="291723" cy="202084"/>
          </a:xfrm>
          <a:custGeom>
            <a:avLst/>
            <a:gdLst/>
            <a:ahLst/>
            <a:cxnLst/>
            <a:rect r="r" b="b" t="t" l="l"/>
            <a:pathLst>
              <a:path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35264" y="7694278"/>
            <a:ext cx="291723" cy="202084"/>
          </a:xfrm>
          <a:custGeom>
            <a:avLst/>
            <a:gdLst/>
            <a:ahLst/>
            <a:cxnLst/>
            <a:rect r="r" b="b" t="t" l="l"/>
            <a:pathLst>
              <a:path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1900" y="6375400"/>
            <a:ext cx="4273073" cy="317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Branch Managers –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Monitor branch-specific sales performance.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Sales Analysts–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Analyze trends, products, and revenue drivers.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Marketing Teams –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Understand customer behavior for promotions.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Executives –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Review high-level summaries for decision-making.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404076"/>
            <a:ext cx="4046725" cy="55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End Users (Personas)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7463" y="6375400"/>
            <a:ext cx="4498627" cy="388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Interactive Dashboard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(branch-level revenue, product sales).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Customer Segmentation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(member vs. normal customers).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Sales Trend Analysis 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(by date, time, branch, category).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Product Category Insights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(top/bottom performing items).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Payment Method Breakdown </a:t>
            </a: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(cash, e-wallet, credit card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007463" y="5499326"/>
            <a:ext cx="25931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Key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3667" y="6346825"/>
            <a:ext cx="4273073" cy="311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Enables quick identification of sales drops or weak categories.</a:t>
            </a:r>
          </a:p>
          <a:p>
            <a:pPr algn="l" marL="431801" indent="-215900" lvl="1">
              <a:lnSpc>
                <a:spcPts val="31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Reduces manual analysis effort with automated insights.</a:t>
            </a:r>
          </a:p>
          <a:p>
            <a:pPr algn="l" marL="431801" indent="-215900" lvl="1">
              <a:lnSpc>
                <a:spcPts val="31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Supports strategic promotions and inventory decisions.</a:t>
            </a:r>
          </a:p>
          <a:p>
            <a:pPr algn="l" marL="431801" indent="-215900" lvl="1">
              <a:lnSpc>
                <a:spcPts val="31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Provides clear visual insights for both analysts and managers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86227" y="5497675"/>
            <a:ext cx="4547955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How Features Solve Problems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661403" y="552532"/>
            <a:ext cx="8965195" cy="4224977"/>
          </a:xfrm>
          <a:custGeom>
            <a:avLst/>
            <a:gdLst/>
            <a:ahLst/>
            <a:cxnLst/>
            <a:rect r="r" b="b" t="t" l="l"/>
            <a:pathLst>
              <a:path h="4224977" w="8965195">
                <a:moveTo>
                  <a:pt x="0" y="0"/>
                </a:moveTo>
                <a:lnTo>
                  <a:pt x="8965194" y="0"/>
                </a:lnTo>
                <a:lnTo>
                  <a:pt x="8965194" y="4224976"/>
                </a:lnTo>
                <a:lnTo>
                  <a:pt x="0" y="42249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727708" y="9565144"/>
            <a:ext cx="19752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544878" y="-242759"/>
            <a:ext cx="1255954" cy="5804832"/>
          </a:xfrm>
          <a:custGeom>
            <a:avLst/>
            <a:gdLst/>
            <a:ahLst/>
            <a:cxnLst/>
            <a:rect r="r" b="b" t="t" l="l"/>
            <a:pathLst>
              <a:path h="5804832" w="1255954">
                <a:moveTo>
                  <a:pt x="0" y="0"/>
                </a:moveTo>
                <a:lnTo>
                  <a:pt x="1255955" y="0"/>
                </a:lnTo>
                <a:lnTo>
                  <a:pt x="1255955" y="5804832"/>
                </a:lnTo>
                <a:lnTo>
                  <a:pt x="0" y="5804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554088" y="2488208"/>
            <a:ext cx="1255954" cy="5804832"/>
          </a:xfrm>
          <a:custGeom>
            <a:avLst/>
            <a:gdLst/>
            <a:ahLst/>
            <a:cxnLst/>
            <a:rect r="r" b="b" t="t" l="l"/>
            <a:pathLst>
              <a:path h="5804832" w="1255954">
                <a:moveTo>
                  <a:pt x="0" y="0"/>
                </a:moveTo>
                <a:lnTo>
                  <a:pt x="1255955" y="0"/>
                </a:lnTo>
                <a:lnTo>
                  <a:pt x="1255955" y="5804832"/>
                </a:lnTo>
                <a:lnTo>
                  <a:pt x="0" y="5804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7536" y="2498766"/>
            <a:ext cx="5509060" cy="3112167"/>
            <a:chOff x="0" y="0"/>
            <a:chExt cx="1822794" cy="102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2794" cy="1029729"/>
            </a:xfrm>
            <a:custGeom>
              <a:avLst/>
              <a:gdLst/>
              <a:ahLst/>
              <a:cxnLst/>
              <a:rect r="r" b="b" t="t" l="l"/>
              <a:pathLst>
                <a:path h="1029729" w="1822794">
                  <a:moveTo>
                    <a:pt x="71671" y="0"/>
                  </a:moveTo>
                  <a:lnTo>
                    <a:pt x="1751123" y="0"/>
                  </a:lnTo>
                  <a:cubicBezTo>
                    <a:pt x="1770131" y="0"/>
                    <a:pt x="1788361" y="7551"/>
                    <a:pt x="1801802" y="20992"/>
                  </a:cubicBezTo>
                  <a:cubicBezTo>
                    <a:pt x="1815243" y="34433"/>
                    <a:pt x="1822794" y="52662"/>
                    <a:pt x="1822794" y="71671"/>
                  </a:cubicBezTo>
                  <a:lnTo>
                    <a:pt x="1822794" y="958058"/>
                  </a:lnTo>
                  <a:cubicBezTo>
                    <a:pt x="1822794" y="977067"/>
                    <a:pt x="1815243" y="995296"/>
                    <a:pt x="1801802" y="1008737"/>
                  </a:cubicBezTo>
                  <a:cubicBezTo>
                    <a:pt x="1788361" y="1022178"/>
                    <a:pt x="1770131" y="1029729"/>
                    <a:pt x="1751123" y="1029729"/>
                  </a:cubicBezTo>
                  <a:lnTo>
                    <a:pt x="71671" y="1029729"/>
                  </a:lnTo>
                  <a:cubicBezTo>
                    <a:pt x="52662" y="1029729"/>
                    <a:pt x="34433" y="1022178"/>
                    <a:pt x="20992" y="1008737"/>
                  </a:cubicBezTo>
                  <a:cubicBezTo>
                    <a:pt x="7551" y="995296"/>
                    <a:pt x="0" y="977067"/>
                    <a:pt x="0" y="958058"/>
                  </a:cubicBezTo>
                  <a:lnTo>
                    <a:pt x="0" y="71671"/>
                  </a:lnTo>
                  <a:cubicBezTo>
                    <a:pt x="0" y="52662"/>
                    <a:pt x="7551" y="34433"/>
                    <a:pt x="20992" y="20992"/>
                  </a:cubicBezTo>
                  <a:cubicBezTo>
                    <a:pt x="34433" y="7551"/>
                    <a:pt x="52662" y="0"/>
                    <a:pt x="71671" y="0"/>
                  </a:cubicBezTo>
                  <a:close/>
                </a:path>
              </a:pathLst>
            </a:custGeom>
            <a:solidFill>
              <a:srgbClr val="0FAB7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2794" cy="1067829"/>
            </a:xfrm>
            <a:prstGeom prst="rect">
              <a:avLst/>
            </a:prstGeom>
          </p:spPr>
          <p:txBody>
            <a:bodyPr anchor="ctr" rtlCol="false" tIns="49120" lIns="49120" bIns="49120" rIns="4912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7536" y="2371122"/>
            <a:ext cx="5068883" cy="362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402" indent="-249701" lvl="1">
              <a:lnSpc>
                <a:spcPts val="3238"/>
              </a:lnSpc>
              <a:buFont typeface="Arial"/>
              <a:buChar char="•"/>
            </a:pPr>
            <a:r>
              <a:rPr lang="en-US" b="true" sz="23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Key Entities &amp; RelationshipsTransaction-Level Data:</a:t>
            </a:r>
          </a:p>
          <a:p>
            <a:pPr algn="l">
              <a:lnSpc>
                <a:spcPts val="3238"/>
              </a:lnSpc>
            </a:pPr>
            <a:r>
              <a:rPr lang="en-US" sz="23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   E</a:t>
            </a:r>
            <a:r>
              <a:rPr lang="en-US" sz="23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ach row = one sale</a:t>
            </a:r>
          </a:p>
          <a:p>
            <a:pPr algn="l" marL="499402" indent="-249701" lvl="1">
              <a:lnSpc>
                <a:spcPts val="3238"/>
              </a:lnSpc>
              <a:buFont typeface="Arial"/>
              <a:buChar char="•"/>
            </a:pPr>
            <a:r>
              <a:rPr lang="en-US" b="true" sz="23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true" sz="23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tities: </a:t>
            </a:r>
            <a:r>
              <a:rPr lang="en-US" sz="23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Branch, Customer Type, Product Line, Pay</a:t>
            </a:r>
            <a:r>
              <a:rPr lang="en-US" sz="23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ment Method, Date, Time, Total, Rating, Quantity, Gross Income</a:t>
            </a:r>
          </a:p>
          <a:p>
            <a:pPr algn="l">
              <a:lnSpc>
                <a:spcPts val="3238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8723194" y="-316136"/>
            <a:ext cx="1296474" cy="5992105"/>
          </a:xfrm>
          <a:custGeom>
            <a:avLst/>
            <a:gdLst/>
            <a:ahLst/>
            <a:cxnLst/>
            <a:rect r="r" b="b" t="t" l="l"/>
            <a:pathLst>
              <a:path h="5992105" w="1296474">
                <a:moveTo>
                  <a:pt x="0" y="0"/>
                </a:moveTo>
                <a:lnTo>
                  <a:pt x="1296473" y="0"/>
                </a:lnTo>
                <a:lnTo>
                  <a:pt x="1296473" y="5992105"/>
                </a:lnTo>
                <a:lnTo>
                  <a:pt x="0" y="5992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8723194" y="2398359"/>
            <a:ext cx="1296474" cy="5992105"/>
          </a:xfrm>
          <a:custGeom>
            <a:avLst/>
            <a:gdLst/>
            <a:ahLst/>
            <a:cxnLst/>
            <a:rect r="r" b="b" t="t" l="l"/>
            <a:pathLst>
              <a:path h="5992105" w="1296474">
                <a:moveTo>
                  <a:pt x="0" y="0"/>
                </a:moveTo>
                <a:lnTo>
                  <a:pt x="1296473" y="0"/>
                </a:lnTo>
                <a:lnTo>
                  <a:pt x="1296473" y="5992105"/>
                </a:lnTo>
                <a:lnTo>
                  <a:pt x="0" y="5992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28035" y="2428272"/>
            <a:ext cx="5686791" cy="3212570"/>
            <a:chOff x="0" y="0"/>
            <a:chExt cx="1822794" cy="1029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2794" cy="1029729"/>
            </a:xfrm>
            <a:custGeom>
              <a:avLst/>
              <a:gdLst/>
              <a:ahLst/>
              <a:cxnLst/>
              <a:rect r="r" b="b" t="t" l="l"/>
              <a:pathLst>
                <a:path h="1029729" w="1822794">
                  <a:moveTo>
                    <a:pt x="69431" y="0"/>
                  </a:moveTo>
                  <a:lnTo>
                    <a:pt x="1753363" y="0"/>
                  </a:lnTo>
                  <a:cubicBezTo>
                    <a:pt x="1771778" y="0"/>
                    <a:pt x="1789437" y="7315"/>
                    <a:pt x="1802458" y="20336"/>
                  </a:cubicBezTo>
                  <a:cubicBezTo>
                    <a:pt x="1815479" y="33357"/>
                    <a:pt x="1822794" y="51017"/>
                    <a:pt x="1822794" y="69431"/>
                  </a:cubicBezTo>
                  <a:lnTo>
                    <a:pt x="1822794" y="960298"/>
                  </a:lnTo>
                  <a:cubicBezTo>
                    <a:pt x="1822794" y="978712"/>
                    <a:pt x="1815479" y="996372"/>
                    <a:pt x="1802458" y="1009393"/>
                  </a:cubicBezTo>
                  <a:cubicBezTo>
                    <a:pt x="1789437" y="1022414"/>
                    <a:pt x="1771778" y="1029729"/>
                    <a:pt x="1753363" y="1029729"/>
                  </a:cubicBezTo>
                  <a:lnTo>
                    <a:pt x="69431" y="1029729"/>
                  </a:lnTo>
                  <a:cubicBezTo>
                    <a:pt x="51017" y="1029729"/>
                    <a:pt x="33357" y="1022414"/>
                    <a:pt x="20336" y="1009393"/>
                  </a:cubicBezTo>
                  <a:cubicBezTo>
                    <a:pt x="7315" y="996372"/>
                    <a:pt x="0" y="978712"/>
                    <a:pt x="0" y="960298"/>
                  </a:cubicBezTo>
                  <a:lnTo>
                    <a:pt x="0" y="69431"/>
                  </a:lnTo>
                  <a:cubicBezTo>
                    <a:pt x="0" y="51017"/>
                    <a:pt x="7315" y="33357"/>
                    <a:pt x="20336" y="20336"/>
                  </a:cubicBezTo>
                  <a:cubicBezTo>
                    <a:pt x="33357" y="7315"/>
                    <a:pt x="51017" y="0"/>
                    <a:pt x="69431" y="0"/>
                  </a:cubicBezTo>
                  <a:close/>
                </a:path>
              </a:pathLst>
            </a:custGeom>
            <a:solidFill>
              <a:srgbClr val="0FAB7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2794" cy="1067829"/>
            </a:xfrm>
            <a:prstGeom prst="rect">
              <a:avLst/>
            </a:prstGeom>
          </p:spPr>
          <p:txBody>
            <a:bodyPr anchor="ctr" rtlCol="false" tIns="43254" lIns="43254" bIns="43254" rIns="4325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28035" y="2536529"/>
            <a:ext cx="5686791" cy="350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960" indent="-238980" lvl="1">
              <a:lnSpc>
                <a:spcPts val="3099"/>
              </a:lnSpc>
              <a:buFont typeface="Arial"/>
              <a:buChar char="•"/>
            </a:pPr>
            <a:r>
              <a:rPr lang="en-US" b="true" sz="22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Data FlowData Collected: </a:t>
            </a:r>
            <a:r>
              <a:rPr lang="en-US" sz="22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From CSV file (Kaggle)</a:t>
            </a:r>
          </a:p>
          <a:p>
            <a:pPr algn="l" marL="477960" indent="-238980" lvl="1">
              <a:lnSpc>
                <a:spcPts val="3099"/>
              </a:lnSpc>
              <a:buFont typeface="Arial"/>
              <a:buChar char="•"/>
            </a:pPr>
            <a:r>
              <a:rPr lang="en-US" b="true" sz="22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Loaded Using: </a:t>
            </a:r>
            <a:r>
              <a:rPr lang="en-US" sz="22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Python (Pandas) / ExcelStored Temporarily in Memory for processing and visualization </a:t>
            </a:r>
          </a:p>
          <a:p>
            <a:pPr algn="l" marL="477960" indent="-238980" lvl="1">
              <a:lnSpc>
                <a:spcPts val="3099"/>
              </a:lnSpc>
              <a:buFont typeface="Arial"/>
              <a:buChar char="•"/>
            </a:pPr>
            <a:r>
              <a:rPr lang="en-US" b="true" sz="22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Acc</a:t>
            </a:r>
            <a:r>
              <a:rPr lang="en-US" b="true" sz="221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essed By: </a:t>
            </a:r>
            <a:r>
              <a:rPr lang="en-US" sz="221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Analysis tools like Python (Matplotlib/Seaborn), Power BI, or Tableau</a:t>
            </a:r>
          </a:p>
          <a:p>
            <a:pPr algn="l">
              <a:lnSpc>
                <a:spcPts val="3099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510678" y="6042648"/>
            <a:ext cx="6848750" cy="4141181"/>
            <a:chOff x="0" y="0"/>
            <a:chExt cx="9131666" cy="5521575"/>
          </a:xfrm>
        </p:grpSpPr>
        <p:sp>
          <p:nvSpPr>
            <p:cNvPr name="Freeform 16" id="16"/>
            <p:cNvSpPr/>
            <p:nvPr/>
          </p:nvSpPr>
          <p:spPr>
            <a:xfrm flipH="false" flipV="false" rot="-5400000">
              <a:off x="3577953" y="-3577953"/>
              <a:ext cx="1975761" cy="9131666"/>
            </a:xfrm>
            <a:custGeom>
              <a:avLst/>
              <a:gdLst/>
              <a:ahLst/>
              <a:cxnLst/>
              <a:rect r="r" b="b" t="t" l="l"/>
              <a:pathLst>
                <a:path h="9131666" w="1975761">
                  <a:moveTo>
                    <a:pt x="0" y="0"/>
                  </a:moveTo>
                  <a:lnTo>
                    <a:pt x="1975760" y="0"/>
                  </a:lnTo>
                  <a:lnTo>
                    <a:pt x="1975760" y="9131666"/>
                  </a:lnTo>
                  <a:lnTo>
                    <a:pt x="0" y="913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5400000">
              <a:off x="3577953" y="-32138"/>
              <a:ext cx="1975761" cy="9131666"/>
            </a:xfrm>
            <a:custGeom>
              <a:avLst/>
              <a:gdLst/>
              <a:ahLst/>
              <a:cxnLst/>
              <a:rect r="r" b="b" t="t" l="l"/>
              <a:pathLst>
                <a:path h="9131666" w="1975761">
                  <a:moveTo>
                    <a:pt x="0" y="0"/>
                  </a:moveTo>
                  <a:lnTo>
                    <a:pt x="1975760" y="0"/>
                  </a:lnTo>
                  <a:lnTo>
                    <a:pt x="1975760" y="9131666"/>
                  </a:lnTo>
                  <a:lnTo>
                    <a:pt x="0" y="913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234092" y="518049"/>
              <a:ext cx="8698165" cy="4196427"/>
              <a:chOff x="0" y="0"/>
              <a:chExt cx="2134376" cy="10297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34376" cy="1029729"/>
              </a:xfrm>
              <a:custGeom>
                <a:avLst/>
                <a:gdLst/>
                <a:ahLst/>
                <a:cxnLst/>
                <a:rect r="r" b="b" t="t" l="l"/>
                <a:pathLst>
                  <a:path h="1029729" w="2134376">
                    <a:moveTo>
                      <a:pt x="60524" y="0"/>
                    </a:moveTo>
                    <a:lnTo>
                      <a:pt x="2073852" y="0"/>
                    </a:lnTo>
                    <a:cubicBezTo>
                      <a:pt x="2089904" y="0"/>
                      <a:pt x="2105298" y="6377"/>
                      <a:pt x="2116649" y="17727"/>
                    </a:cubicBezTo>
                    <a:cubicBezTo>
                      <a:pt x="2127999" y="29078"/>
                      <a:pt x="2134376" y="44472"/>
                      <a:pt x="2134376" y="60524"/>
                    </a:cubicBezTo>
                    <a:lnTo>
                      <a:pt x="2134376" y="969205"/>
                    </a:lnTo>
                    <a:cubicBezTo>
                      <a:pt x="2134376" y="985257"/>
                      <a:pt x="2127999" y="1000651"/>
                      <a:pt x="2116649" y="1012002"/>
                    </a:cubicBezTo>
                    <a:cubicBezTo>
                      <a:pt x="2105298" y="1023352"/>
                      <a:pt x="2089904" y="1029729"/>
                      <a:pt x="2073852" y="1029729"/>
                    </a:cubicBezTo>
                    <a:lnTo>
                      <a:pt x="60524" y="1029729"/>
                    </a:lnTo>
                    <a:cubicBezTo>
                      <a:pt x="44472" y="1029729"/>
                      <a:pt x="29078" y="1023352"/>
                      <a:pt x="17727" y="1012002"/>
                    </a:cubicBezTo>
                    <a:cubicBezTo>
                      <a:pt x="6377" y="1000651"/>
                      <a:pt x="0" y="985257"/>
                      <a:pt x="0" y="969205"/>
                    </a:cubicBezTo>
                    <a:lnTo>
                      <a:pt x="0" y="60524"/>
                    </a:lnTo>
                    <a:cubicBezTo>
                      <a:pt x="0" y="44472"/>
                      <a:pt x="6377" y="29078"/>
                      <a:pt x="17727" y="17727"/>
                    </a:cubicBezTo>
                    <a:cubicBezTo>
                      <a:pt x="29078" y="6377"/>
                      <a:pt x="44472" y="0"/>
                      <a:pt x="60524" y="0"/>
                    </a:cubicBezTo>
                    <a:close/>
                  </a:path>
                </a:pathLst>
              </a:custGeom>
              <a:solidFill>
                <a:srgbClr val="0FAB7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2134376" cy="1058304"/>
              </a:xfrm>
              <a:prstGeom prst="rect">
                <a:avLst/>
              </a:prstGeom>
            </p:spPr>
            <p:txBody>
              <a:bodyPr anchor="ctr" rtlCol="false" tIns="49674" lIns="49674" bIns="49674" rIns="49674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68984" y="1244488"/>
              <a:ext cx="7428383" cy="301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4801" indent="-282400" lvl="1">
                <a:lnSpc>
                  <a:spcPts val="3662"/>
                </a:lnSpc>
                <a:buFont typeface="Arial"/>
                <a:buChar char="•"/>
              </a:pPr>
              <a:r>
                <a:rPr lang="en-US" b="true" sz="261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Characteristics Structured tabular format with labeled columns Balanced Data : </a:t>
              </a:r>
              <a:r>
                <a:rPr lang="en-US" sz="261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Fair distribution across branches and customer types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67483" y="2031680"/>
            <a:ext cx="5992105" cy="4010968"/>
            <a:chOff x="0" y="0"/>
            <a:chExt cx="7989473" cy="5347958"/>
          </a:xfrm>
        </p:grpSpPr>
        <p:sp>
          <p:nvSpPr>
            <p:cNvPr name="Freeform 23" id="23"/>
            <p:cNvSpPr/>
            <p:nvPr/>
          </p:nvSpPr>
          <p:spPr>
            <a:xfrm flipH="false" flipV="false" rot="-5400000">
              <a:off x="3130421" y="-3130421"/>
              <a:ext cx="1728631" cy="7989473"/>
            </a:xfrm>
            <a:custGeom>
              <a:avLst/>
              <a:gdLst/>
              <a:ahLst/>
              <a:cxnLst/>
              <a:rect r="r" b="b" t="t" l="l"/>
              <a:pathLst>
                <a:path h="7989473" w="1728631">
                  <a:moveTo>
                    <a:pt x="0" y="0"/>
                  </a:moveTo>
                  <a:lnTo>
                    <a:pt x="1728631" y="0"/>
                  </a:lnTo>
                  <a:lnTo>
                    <a:pt x="1728631" y="7989473"/>
                  </a:lnTo>
                  <a:lnTo>
                    <a:pt x="0" y="7989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-5400000">
              <a:off x="3130421" y="488905"/>
              <a:ext cx="1728631" cy="7989473"/>
            </a:xfrm>
            <a:custGeom>
              <a:avLst/>
              <a:gdLst/>
              <a:ahLst/>
              <a:cxnLst/>
              <a:rect r="r" b="b" t="t" l="l"/>
              <a:pathLst>
                <a:path h="7989473" w="1728631">
                  <a:moveTo>
                    <a:pt x="0" y="0"/>
                  </a:moveTo>
                  <a:lnTo>
                    <a:pt x="1728631" y="0"/>
                  </a:lnTo>
                  <a:lnTo>
                    <a:pt x="1728631" y="7989474"/>
                  </a:lnTo>
                  <a:lnTo>
                    <a:pt x="0" y="798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0">
              <a:off x="203543" y="528789"/>
              <a:ext cx="7582388" cy="4283427"/>
              <a:chOff x="0" y="0"/>
              <a:chExt cx="1822794" cy="102972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822794" cy="1029729"/>
              </a:xfrm>
              <a:custGeom>
                <a:avLst/>
                <a:gdLst/>
                <a:ahLst/>
                <a:cxnLst/>
                <a:rect r="r" b="b" t="t" l="l"/>
                <a:pathLst>
                  <a:path h="1029729" w="1822794">
                    <a:moveTo>
                      <a:pt x="71605" y="0"/>
                    </a:moveTo>
                    <a:lnTo>
                      <a:pt x="1751189" y="0"/>
                    </a:lnTo>
                    <a:cubicBezTo>
                      <a:pt x="1770180" y="0"/>
                      <a:pt x="1788393" y="7544"/>
                      <a:pt x="1801821" y="20973"/>
                    </a:cubicBezTo>
                    <a:cubicBezTo>
                      <a:pt x="1815250" y="34401"/>
                      <a:pt x="1822794" y="52614"/>
                      <a:pt x="1822794" y="71605"/>
                    </a:cubicBezTo>
                    <a:lnTo>
                      <a:pt x="1822794" y="958124"/>
                    </a:lnTo>
                    <a:cubicBezTo>
                      <a:pt x="1822794" y="977115"/>
                      <a:pt x="1815250" y="995328"/>
                      <a:pt x="1801821" y="1008756"/>
                    </a:cubicBezTo>
                    <a:cubicBezTo>
                      <a:pt x="1788393" y="1022185"/>
                      <a:pt x="1770180" y="1029729"/>
                      <a:pt x="1751189" y="1029729"/>
                    </a:cubicBezTo>
                    <a:lnTo>
                      <a:pt x="71605" y="1029729"/>
                    </a:lnTo>
                    <a:cubicBezTo>
                      <a:pt x="52614" y="1029729"/>
                      <a:pt x="34401" y="1022185"/>
                      <a:pt x="20973" y="1008756"/>
                    </a:cubicBezTo>
                    <a:cubicBezTo>
                      <a:pt x="7544" y="995328"/>
                      <a:pt x="0" y="977115"/>
                      <a:pt x="0" y="958124"/>
                    </a:cubicBezTo>
                    <a:lnTo>
                      <a:pt x="0" y="71605"/>
                    </a:lnTo>
                    <a:cubicBezTo>
                      <a:pt x="0" y="52614"/>
                      <a:pt x="7544" y="34401"/>
                      <a:pt x="20973" y="20973"/>
                    </a:cubicBezTo>
                    <a:cubicBezTo>
                      <a:pt x="34401" y="7544"/>
                      <a:pt x="52614" y="0"/>
                      <a:pt x="71605" y="0"/>
                    </a:cubicBezTo>
                    <a:close/>
                  </a:path>
                </a:pathLst>
              </a:custGeom>
              <a:solidFill>
                <a:srgbClr val="0FAB7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1822794" cy="1058304"/>
              </a:xfrm>
              <a:prstGeom prst="rect">
                <a:avLst/>
              </a:prstGeom>
            </p:spPr>
            <p:txBody>
              <a:bodyPr anchor="ctr" rtlCol="false" tIns="49165" lIns="49165" bIns="49165" rIns="49165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1771" y="475849"/>
              <a:ext cx="7785931" cy="400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980" indent="-265990" lvl="1">
                <a:lnSpc>
                  <a:spcPts val="3449"/>
                </a:lnSpc>
                <a:buFont typeface="Arial"/>
                <a:buChar char="•"/>
              </a:pPr>
              <a:r>
                <a:rPr lang="en-US" b="true" sz="2464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Techniques Used :                          </a:t>
              </a:r>
              <a:r>
                <a:rPr lang="en-US" sz="246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Data Cleaning (handling missing/duplicate values)Feature Analysis (category grouping, aggregation)Visualization (branch-wise comparisons, heatmaps, trend lines)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1210" y="6042648"/>
            <a:ext cx="6848750" cy="4141181"/>
            <a:chOff x="0" y="0"/>
            <a:chExt cx="9131666" cy="5521575"/>
          </a:xfrm>
        </p:grpSpPr>
        <p:sp>
          <p:nvSpPr>
            <p:cNvPr name="Freeform 30" id="30"/>
            <p:cNvSpPr/>
            <p:nvPr/>
          </p:nvSpPr>
          <p:spPr>
            <a:xfrm flipH="false" flipV="false" rot="-5400000">
              <a:off x="3577953" y="-3577953"/>
              <a:ext cx="1975761" cy="9131666"/>
            </a:xfrm>
            <a:custGeom>
              <a:avLst/>
              <a:gdLst/>
              <a:ahLst/>
              <a:cxnLst/>
              <a:rect r="r" b="b" t="t" l="l"/>
              <a:pathLst>
                <a:path h="9131666" w="1975761">
                  <a:moveTo>
                    <a:pt x="0" y="0"/>
                  </a:moveTo>
                  <a:lnTo>
                    <a:pt x="1975760" y="0"/>
                  </a:lnTo>
                  <a:lnTo>
                    <a:pt x="1975760" y="9131666"/>
                  </a:lnTo>
                  <a:lnTo>
                    <a:pt x="0" y="913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5400000">
              <a:off x="3577953" y="-32138"/>
              <a:ext cx="1975761" cy="9131666"/>
            </a:xfrm>
            <a:custGeom>
              <a:avLst/>
              <a:gdLst/>
              <a:ahLst/>
              <a:cxnLst/>
              <a:rect r="r" b="b" t="t" l="l"/>
              <a:pathLst>
                <a:path h="9131666" w="1975761">
                  <a:moveTo>
                    <a:pt x="0" y="0"/>
                  </a:moveTo>
                  <a:lnTo>
                    <a:pt x="1975760" y="0"/>
                  </a:lnTo>
                  <a:lnTo>
                    <a:pt x="1975760" y="9131666"/>
                  </a:lnTo>
                  <a:lnTo>
                    <a:pt x="0" y="9131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234092" y="518049"/>
              <a:ext cx="8698165" cy="4196427"/>
              <a:chOff x="0" y="0"/>
              <a:chExt cx="2134376" cy="102972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34376" cy="1029729"/>
              </a:xfrm>
              <a:custGeom>
                <a:avLst/>
                <a:gdLst/>
                <a:ahLst/>
                <a:cxnLst/>
                <a:rect r="r" b="b" t="t" l="l"/>
                <a:pathLst>
                  <a:path h="1029729" w="2134376">
                    <a:moveTo>
                      <a:pt x="60524" y="0"/>
                    </a:moveTo>
                    <a:lnTo>
                      <a:pt x="2073852" y="0"/>
                    </a:lnTo>
                    <a:cubicBezTo>
                      <a:pt x="2089904" y="0"/>
                      <a:pt x="2105298" y="6377"/>
                      <a:pt x="2116649" y="17727"/>
                    </a:cubicBezTo>
                    <a:cubicBezTo>
                      <a:pt x="2127999" y="29078"/>
                      <a:pt x="2134376" y="44472"/>
                      <a:pt x="2134376" y="60524"/>
                    </a:cubicBezTo>
                    <a:lnTo>
                      <a:pt x="2134376" y="969205"/>
                    </a:lnTo>
                    <a:cubicBezTo>
                      <a:pt x="2134376" y="985257"/>
                      <a:pt x="2127999" y="1000651"/>
                      <a:pt x="2116649" y="1012002"/>
                    </a:cubicBezTo>
                    <a:cubicBezTo>
                      <a:pt x="2105298" y="1023352"/>
                      <a:pt x="2089904" y="1029729"/>
                      <a:pt x="2073852" y="1029729"/>
                    </a:cubicBezTo>
                    <a:lnTo>
                      <a:pt x="60524" y="1029729"/>
                    </a:lnTo>
                    <a:cubicBezTo>
                      <a:pt x="44472" y="1029729"/>
                      <a:pt x="29078" y="1023352"/>
                      <a:pt x="17727" y="1012002"/>
                    </a:cubicBezTo>
                    <a:cubicBezTo>
                      <a:pt x="6377" y="1000651"/>
                      <a:pt x="0" y="985257"/>
                      <a:pt x="0" y="969205"/>
                    </a:cubicBezTo>
                    <a:lnTo>
                      <a:pt x="0" y="60524"/>
                    </a:lnTo>
                    <a:cubicBezTo>
                      <a:pt x="0" y="44472"/>
                      <a:pt x="6377" y="29078"/>
                      <a:pt x="17727" y="17727"/>
                    </a:cubicBezTo>
                    <a:cubicBezTo>
                      <a:pt x="29078" y="6377"/>
                      <a:pt x="44472" y="0"/>
                      <a:pt x="60524" y="0"/>
                    </a:cubicBezTo>
                    <a:close/>
                  </a:path>
                </a:pathLst>
              </a:custGeom>
              <a:solidFill>
                <a:srgbClr val="0FAB7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134376" cy="1058304"/>
              </a:xfrm>
              <a:prstGeom prst="rect">
                <a:avLst/>
              </a:prstGeom>
            </p:spPr>
            <p:txBody>
              <a:bodyPr anchor="ctr" rtlCol="false" tIns="49674" lIns="49674" bIns="49674" rIns="49674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233674" y="726439"/>
              <a:ext cx="6699001" cy="4246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5005" indent="-247502" lvl="1">
                <a:lnSpc>
                  <a:spcPts val="3209"/>
                </a:lnSpc>
                <a:buFont typeface="Arial"/>
                <a:buChar char="•"/>
              </a:pPr>
              <a:r>
                <a:rPr lang="en-US" b="true" sz="2292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Source Dataset : </a:t>
              </a:r>
              <a:r>
                <a:rPr lang="en-US" sz="229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Supermarket Sales </a:t>
              </a:r>
            </a:p>
            <a:p>
              <a:pPr algn="l" marL="495005" indent="-247502" lvl="1">
                <a:lnSpc>
                  <a:spcPts val="3209"/>
                </a:lnSpc>
                <a:buFont typeface="Arial"/>
                <a:buChar char="•"/>
              </a:pPr>
              <a:r>
                <a:rPr lang="en-US" b="true" sz="2292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Dataset Source</a:t>
              </a:r>
              <a:r>
                <a:rPr lang="en-US" sz="229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b="true" sz="2292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: </a:t>
              </a:r>
              <a:r>
                <a:rPr lang="en-US" sz="229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Kaggle (CSV format)Branches Covered: 3 branches (A, B, C)</a:t>
              </a:r>
            </a:p>
            <a:p>
              <a:pPr algn="l" marL="495005" indent="-247502" lvl="1">
                <a:lnSpc>
                  <a:spcPts val="3209"/>
                </a:lnSpc>
                <a:buFont typeface="Arial"/>
                <a:buChar char="•"/>
              </a:pPr>
              <a:r>
                <a:rPr lang="en-US" b="true" sz="2292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Time Period</a:t>
              </a:r>
              <a:r>
                <a:rPr lang="en-US" sz="229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lang="en-US" b="true" sz="2292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: </a:t>
              </a:r>
              <a:r>
                <a:rPr lang="en-US" sz="229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Covers multiple months of daily transactions</a:t>
              </a:r>
            </a:p>
            <a:p>
              <a:pPr algn="l">
                <a:lnSpc>
                  <a:spcPts val="320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41210" y="634745"/>
            <a:ext cx="15005581" cy="10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Data 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739912" y="9565144"/>
            <a:ext cx="17311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4092" y="2795489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2" y="0"/>
                </a:lnTo>
                <a:lnTo>
                  <a:pt x="7434402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11655" y="534494"/>
            <a:ext cx="12942608" cy="104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503"/>
              </a:lnSpc>
            </a:pPr>
            <a:r>
              <a:rPr lang="en-US" sz="6074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Programming Languages +</a:t>
            </a:r>
            <a:r>
              <a:rPr lang="en-US" sz="6074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Frameworks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10800000">
            <a:off x="8352792" y="1823644"/>
            <a:ext cx="1786050" cy="8254854"/>
          </a:xfrm>
          <a:custGeom>
            <a:avLst/>
            <a:gdLst/>
            <a:ahLst/>
            <a:cxnLst/>
            <a:rect r="r" b="b" t="t" l="l"/>
            <a:pathLst>
              <a:path h="8254854" w="1786050">
                <a:moveTo>
                  <a:pt x="1786050" y="0"/>
                </a:moveTo>
                <a:lnTo>
                  <a:pt x="0" y="0"/>
                </a:lnTo>
                <a:lnTo>
                  <a:pt x="0" y="8254854"/>
                </a:lnTo>
                <a:lnTo>
                  <a:pt x="1786050" y="8254854"/>
                </a:lnTo>
                <a:lnTo>
                  <a:pt x="17860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485699" y="1802497"/>
            <a:ext cx="1786050" cy="8254854"/>
          </a:xfrm>
          <a:custGeom>
            <a:avLst/>
            <a:gdLst/>
            <a:ahLst/>
            <a:cxnLst/>
            <a:rect r="r" b="b" t="t" l="l"/>
            <a:pathLst>
              <a:path h="8254854" w="1786050">
                <a:moveTo>
                  <a:pt x="1786051" y="0"/>
                </a:moveTo>
                <a:lnTo>
                  <a:pt x="0" y="0"/>
                </a:lnTo>
                <a:lnTo>
                  <a:pt x="0" y="8254854"/>
                </a:lnTo>
                <a:lnTo>
                  <a:pt x="1786051" y="8254854"/>
                </a:lnTo>
                <a:lnTo>
                  <a:pt x="178605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019" y="2030461"/>
            <a:ext cx="8489537" cy="7817977"/>
            <a:chOff x="0" y="0"/>
            <a:chExt cx="1693543" cy="15595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3543" cy="1559576"/>
            </a:xfrm>
            <a:custGeom>
              <a:avLst/>
              <a:gdLst/>
              <a:ahLst/>
              <a:cxnLst/>
              <a:rect r="r" b="b" t="t" l="l"/>
              <a:pathLst>
                <a:path h="1559576" w="1693543">
                  <a:moveTo>
                    <a:pt x="46509" y="0"/>
                  </a:moveTo>
                  <a:lnTo>
                    <a:pt x="1647034" y="0"/>
                  </a:lnTo>
                  <a:cubicBezTo>
                    <a:pt x="1659369" y="0"/>
                    <a:pt x="1671198" y="4900"/>
                    <a:pt x="1679921" y="13622"/>
                  </a:cubicBezTo>
                  <a:cubicBezTo>
                    <a:pt x="1688642" y="22344"/>
                    <a:pt x="1693543" y="34174"/>
                    <a:pt x="1693543" y="46509"/>
                  </a:cubicBezTo>
                  <a:lnTo>
                    <a:pt x="1693543" y="1513067"/>
                  </a:lnTo>
                  <a:cubicBezTo>
                    <a:pt x="1693543" y="1525402"/>
                    <a:pt x="1688642" y="1537232"/>
                    <a:pt x="1679921" y="1545954"/>
                  </a:cubicBezTo>
                  <a:cubicBezTo>
                    <a:pt x="1671198" y="1554676"/>
                    <a:pt x="1659369" y="1559576"/>
                    <a:pt x="1647034" y="1559576"/>
                  </a:cubicBezTo>
                  <a:lnTo>
                    <a:pt x="46509" y="1559576"/>
                  </a:lnTo>
                  <a:cubicBezTo>
                    <a:pt x="34174" y="1559576"/>
                    <a:pt x="22344" y="1554676"/>
                    <a:pt x="13622" y="1545954"/>
                  </a:cubicBezTo>
                  <a:cubicBezTo>
                    <a:pt x="4900" y="1537232"/>
                    <a:pt x="0" y="1525402"/>
                    <a:pt x="0" y="1513067"/>
                  </a:cubicBezTo>
                  <a:lnTo>
                    <a:pt x="0" y="46509"/>
                  </a:lnTo>
                  <a:cubicBezTo>
                    <a:pt x="0" y="34174"/>
                    <a:pt x="4900" y="22344"/>
                    <a:pt x="13622" y="13622"/>
                  </a:cubicBezTo>
                  <a:cubicBezTo>
                    <a:pt x="22344" y="4900"/>
                    <a:pt x="34174" y="0"/>
                    <a:pt x="46509" y="0"/>
                  </a:cubicBezTo>
                  <a:close/>
                </a:path>
              </a:pathLst>
            </a:custGeom>
            <a:solidFill>
              <a:srgbClr val="D7B1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93543" cy="159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07643" y="2249526"/>
            <a:ext cx="3892272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Programming Languages Used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195" y="2972154"/>
            <a:ext cx="7991361" cy="180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Python – For data analysis, cleaning, and visualization.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Excel – For initial data exploration and summary checks.</a:t>
            </a:r>
          </a:p>
          <a:p>
            <a:pPr algn="l">
              <a:lnSpc>
                <a:spcPts val="3657"/>
              </a:lnSpc>
            </a:pP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807643" y="4210404"/>
            <a:ext cx="2622590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Frameworks &amp; Tools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9329" y="4799345"/>
            <a:ext cx="8229693" cy="2715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Pandas – Data manipulation and preparation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Matplotlib &amp; Seaborn – Visualizations and trend analysis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Tableau  – Interactive dashboards for insights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Jupyter Notebook – Documented code and step-by-step analysis</a:t>
            </a: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24195" y="7878255"/>
            <a:ext cx="8508578" cy="180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CSV file from Kaggle – Primary data source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 Google Drive  – For sharing results and collaboration</a:t>
            </a:r>
          </a:p>
          <a:p>
            <a:pPr algn="l" marL="496585" indent="-248293" lvl="1">
              <a:lnSpc>
                <a:spcPts val="365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No cloud servers or databases used in current phase</a:t>
            </a: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807643" y="7260402"/>
            <a:ext cx="3185755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Supporting Technologies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31518" y="9565144"/>
            <a:ext cx="18990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9974" y="3147267"/>
            <a:ext cx="6629326" cy="6111033"/>
          </a:xfrm>
          <a:custGeom>
            <a:avLst/>
            <a:gdLst/>
            <a:ahLst/>
            <a:cxnLst/>
            <a:rect r="r" b="b" t="t" l="l"/>
            <a:pathLst>
              <a:path h="6111033" w="6629326">
                <a:moveTo>
                  <a:pt x="0" y="0"/>
                </a:moveTo>
                <a:lnTo>
                  <a:pt x="6629326" y="0"/>
                </a:lnTo>
                <a:lnTo>
                  <a:pt x="6629326" y="6111033"/>
                </a:lnTo>
                <a:lnTo>
                  <a:pt x="0" y="6111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43363" y="736289"/>
            <a:ext cx="9601274" cy="102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8"/>
              </a:lnSpc>
            </a:pPr>
            <a:r>
              <a:rPr lang="en-US" sz="8400" spc="-411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Live Application +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97939"/>
            <a:ext cx="387810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39"/>
              </a:lnSpc>
            </a:pPr>
            <a:r>
              <a:rPr lang="ar-EG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 : 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Current Application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State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1175" y="2273884"/>
            <a:ext cx="9495774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project includes an interactive dashboard created using Tableau. 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 dashboard displays branch-wise sales trends, top-selling product lines, and customer behavior insights.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Currently deployed in a beta testing phase for internal evaluation by the project team and supervisor.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275" y="4672914"/>
            <a:ext cx="234898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39"/>
              </a:lnSpc>
            </a:pPr>
            <a:r>
              <a:rPr lang="ar-EG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 : 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Testing Phases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1175" y="5235524"/>
            <a:ext cx="9495774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Unit Testing: Validated each data preprocessing function in Pyt</a:t>
            </a: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hon (e.g., total revenue calculations, branch filters).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Integration Testing: Ensured smooth flow from data preprocessing to dashboard tools (CSV → Python → Tableau).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User Testing: Collected feedback from teammates and supervisor on dashboard usability and design.</a:t>
            </a:r>
          </a:p>
          <a:p>
            <a:pPr algn="r" rtl="true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" y="7818755"/>
            <a:ext cx="174552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39"/>
              </a:lnSpc>
            </a:pPr>
            <a:r>
              <a:rPr lang="ar-EG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: 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1175" y="8383270"/>
            <a:ext cx="9718799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Users appreciated the clear branch comparison visuals a</a:t>
            </a: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nd sales over time trends.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These features were successfully implemented in the final dashboard version.</a:t>
            </a:r>
          </a:p>
          <a:p>
            <a:pPr algn="r" rtl="true">
              <a:lnSpc>
                <a:spcPts val="32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743900" y="9565144"/>
            <a:ext cx="165140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9987" y="653613"/>
            <a:ext cx="11528391" cy="100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8"/>
              </a:lnSpc>
            </a:pPr>
            <a:r>
              <a:rPr lang="en-US" sz="8354" spc="-40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Reports &amp; Documentation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085932" y="3506416"/>
            <a:ext cx="6730928" cy="5751884"/>
          </a:xfrm>
          <a:custGeom>
            <a:avLst/>
            <a:gdLst/>
            <a:ahLst/>
            <a:cxnLst/>
            <a:rect r="r" b="b" t="t" l="l"/>
            <a:pathLst>
              <a:path h="5751884" w="6730928">
                <a:moveTo>
                  <a:pt x="0" y="0"/>
                </a:moveTo>
                <a:lnTo>
                  <a:pt x="6730929" y="0"/>
                </a:lnTo>
                <a:lnTo>
                  <a:pt x="6730929" y="5751884"/>
                </a:lnTo>
                <a:lnTo>
                  <a:pt x="0" y="5751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9930" y="1696101"/>
            <a:ext cx="3604141" cy="45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Reports</a:t>
            </a:r>
            <a:r>
              <a:rPr lang="en-US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&amp; Documentation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7747"/>
            <a:ext cx="10057232" cy="2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Final Technical Report: Includes project overview, problem statement, methodology, data analysis, and conclusions.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User Manual: Explains how to navigate and interact</a:t>
            </a: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with the Tableau/Power BI dashboards.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Presentation Slides: Summarizes key results, process, and team responsibilities.</a:t>
            </a:r>
          </a:p>
          <a:p>
            <a:pPr algn="r" rtl="true">
              <a:lnSpc>
                <a:spcPts val="32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99930" y="4771405"/>
            <a:ext cx="3369707" cy="45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Milestones</a:t>
            </a:r>
            <a:r>
              <a:rPr lang="en-US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&amp; Deadlines</a:t>
            </a:r>
            <a:r>
              <a:rPr lang="ar-EG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353050"/>
            <a:ext cx="10057232" cy="198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Week 1 – Data Collection &amp; Cleaning Completed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Week 2 – Exploratory Data Analysis (EDA) &amp; Key Insights Identified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Week 3 – Dashboard Development &amp; Optimization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Week 4  – Final Documentation &amp; Report Submission</a:t>
            </a:r>
          </a:p>
          <a:p>
            <a:pPr algn="r" rtl="true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75828"/>
            <a:ext cx="2520519" cy="45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Final Products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856490"/>
            <a:ext cx="10057232" cy="278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Interactive Dashboards (Tableau/Power BI): Revenue trends,</a:t>
            </a: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product performance, and customer insights.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Cleaned Dataset (CSV): With formatted values and missing data handled.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Python Notebook: Includes full code for preprocessing and analysis.</a:t>
            </a:r>
          </a:p>
          <a:p>
            <a:pPr algn="l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Final Report + User Guide (PDF)</a:t>
            </a:r>
          </a:p>
          <a:p>
            <a:pPr algn="r" rtl="true">
              <a:lnSpc>
                <a:spcPts val="32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732351" y="9565144"/>
            <a:ext cx="18823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61741" y="2389338"/>
            <a:ext cx="5207920" cy="4100054"/>
          </a:xfrm>
          <a:custGeom>
            <a:avLst/>
            <a:gdLst/>
            <a:ahLst/>
            <a:cxnLst/>
            <a:rect r="r" b="b" t="t" l="l"/>
            <a:pathLst>
              <a:path h="4100054" w="5207920">
                <a:moveTo>
                  <a:pt x="0" y="0"/>
                </a:moveTo>
                <a:lnTo>
                  <a:pt x="5207920" y="0"/>
                </a:lnTo>
                <a:lnTo>
                  <a:pt x="5207920" y="4100054"/>
                </a:lnTo>
                <a:lnTo>
                  <a:pt x="0" y="410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7104" y="795261"/>
            <a:ext cx="9198549" cy="10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Project Team Roles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062" y="2068946"/>
            <a:ext cx="5581693" cy="5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13"/>
              </a:lnSpc>
            </a:pPr>
            <a:r>
              <a:rPr lang="ar-EG" sz="322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</a:t>
            </a:r>
            <a:r>
              <a:rPr lang="en-US" sz="322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Group Members</a:t>
            </a:r>
            <a:r>
              <a:rPr lang="en-US" sz="3223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&amp; Roles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63850"/>
            <a:ext cx="12769160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Ahmed Hassan 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– Team Leader &amp; Data Analyst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Coordinated project tasks, managed timelines, and led data analysis efforts.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Mostafa Salem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Data Analyst &amp; Reporting Specialist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Conducted in-depth sales analysis and contributed to writing reports and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documentation.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Yomna Ali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Visualization &amp; Dashboard Developer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Designed and developed interactive dashboards using Tableau and Power BI.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Mariam Elnemrawy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Data Engineer &amp; Documentation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Handled data formatting, integration, and wrote technical documentation.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Magda Haytham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– Cleaning Specialist &amp; Data Analyst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    Cleaned raw datasets and assisted in revenue trend and product performance analysis</a:t>
            </a:r>
          </a:p>
          <a:p>
            <a:pPr algn="r" rtl="true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80062" y="7803515"/>
            <a:ext cx="484791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19"/>
              </a:lnSpc>
            </a:pPr>
            <a:r>
              <a:rPr lang="ar-EG" sz="27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</a:t>
            </a:r>
            <a:r>
              <a:rPr lang="en-US" sz="27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Collaboration Meth</a:t>
            </a:r>
            <a:r>
              <a:rPr lang="en-US" sz="27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ods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396605"/>
            <a:ext cx="10869571" cy="22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248" indent="-224624" lvl="1">
              <a:lnSpc>
                <a:spcPts val="2913"/>
              </a:lnSpc>
              <a:buFont typeface="Arial"/>
              <a:buChar char="•"/>
            </a:pPr>
            <a:r>
              <a:rPr lang="en-US" sz="2080" u="sng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Google Drive</a:t>
            </a:r>
            <a:r>
              <a:rPr lang="en-US" sz="208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 Shared project files, cleaned datasets, and drafts.</a:t>
            </a:r>
          </a:p>
          <a:p>
            <a:pPr algn="l" marL="449248" indent="-224624" lvl="1">
              <a:lnSpc>
                <a:spcPts val="2913"/>
              </a:lnSpc>
              <a:buFont typeface="Arial"/>
              <a:buChar char="•"/>
            </a:pPr>
            <a:r>
              <a:rPr lang="en-US" sz="2080" u="sng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WhatsApp</a:t>
            </a:r>
            <a:r>
              <a:rPr lang="en-US" sz="208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 Daily communication and quick decision-making.</a:t>
            </a:r>
          </a:p>
          <a:p>
            <a:pPr algn="l" marL="449248" indent="-224624" lvl="1">
              <a:lnSpc>
                <a:spcPts val="2913"/>
              </a:lnSpc>
              <a:buFont typeface="Arial"/>
              <a:buChar char="•"/>
            </a:pPr>
            <a:r>
              <a:rPr lang="en-US" sz="2080" u="sng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Weekly Meetings</a:t>
            </a:r>
            <a:r>
              <a:rPr lang="en-US" sz="208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 Discussed progress, reviewed visuals, and resolved blockers.</a:t>
            </a:r>
          </a:p>
          <a:p>
            <a:pPr algn="l" marL="492428" indent="-246214" lvl="1">
              <a:lnSpc>
                <a:spcPts val="3193"/>
              </a:lnSpc>
              <a:buFont typeface="Arial"/>
              <a:buChar char="•"/>
            </a:pPr>
            <a:r>
              <a:rPr lang="en-US" sz="2280" u="sng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Agile Approach</a:t>
            </a:r>
            <a:r>
              <a:rPr lang="en-US" sz="228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: Tasks were divided weekly, with updates shared in meetings.</a:t>
            </a:r>
          </a:p>
          <a:p>
            <a:pPr algn="l">
              <a:lnSpc>
                <a:spcPts val="2913"/>
              </a:lnSpc>
            </a:pPr>
          </a:p>
          <a:p>
            <a:pPr algn="r" rtl="true">
              <a:lnSpc>
                <a:spcPts val="291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733185" y="9565144"/>
            <a:ext cx="186571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43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61445" y="2186813"/>
            <a:ext cx="7097295" cy="7071487"/>
          </a:xfrm>
          <a:custGeom>
            <a:avLst/>
            <a:gdLst/>
            <a:ahLst/>
            <a:cxnLst/>
            <a:rect r="r" b="b" t="t" l="l"/>
            <a:pathLst>
              <a:path h="7071487" w="7097295">
                <a:moveTo>
                  <a:pt x="0" y="0"/>
                </a:moveTo>
                <a:lnTo>
                  <a:pt x="7097295" y="0"/>
                </a:lnTo>
                <a:lnTo>
                  <a:pt x="7097295" y="7071487"/>
                </a:lnTo>
                <a:lnTo>
                  <a:pt x="0" y="7071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1499" y="2465974"/>
            <a:ext cx="8332616" cy="174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2493" y="4483443"/>
            <a:ext cx="381637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3639"/>
              </a:lnSpc>
            </a:pPr>
            <a:r>
              <a:rPr lang="ar-EG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  <a:rtl val="true"/>
              </a:rPr>
              <a:t> 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Contact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Information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2493" y="5007954"/>
            <a:ext cx="6016842" cy="131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Team Leader: </a:t>
            </a:r>
            <a:r>
              <a:rPr lang="en-US" b="true" sz="23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Ahmed Hassan</a:t>
            </a:r>
          </a:p>
          <a:p>
            <a:pPr algn="just">
              <a:lnSpc>
                <a:spcPts val="3588"/>
              </a:lnSpc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Email: ahmed.hassan@email.com </a:t>
            </a:r>
          </a:p>
          <a:p>
            <a:pPr algn="just">
              <a:lnSpc>
                <a:spcPts val="3588"/>
              </a:lnSpc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Phone: +20 111 602 9913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2493" y="7131647"/>
            <a:ext cx="416630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Questions</a:t>
            </a:r>
            <a:r>
              <a:rPr lang="en-US" sz="25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 or Feedback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2493" y="7684733"/>
            <a:ext cx="6016842" cy="7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We’d love to hear your thoughts and are happy to answer any questions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53949" y="9565144"/>
            <a:ext cx="34504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DAGmZKPZ5sc</dc:identifier>
  <dcterms:modified xsi:type="dcterms:W3CDTF">2011-08-01T06:04:30Z</dcterms:modified>
  <cp:revision>1</cp:revision>
  <dc:title>Green and White Simple Illustrative Data Analytics Presentation</dc:title>
</cp:coreProperties>
</file>